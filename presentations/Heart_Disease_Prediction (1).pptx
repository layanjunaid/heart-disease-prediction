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F1-Score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Baseline</c:v>
                  </c:pt>
                  <c:pt idx="1">
                    <c:v>Filter</c:v>
                  </c:pt>
                  <c:pt idx="2">
                    <c:v>Emb-LASSO</c:v>
                  </c:pt>
                  <c:pt idx="3">
                    <c:v>Emb-RF</c:v>
                  </c:pt>
                  <c:pt idx="4">
                    <c:v>Emb-Union</c:v>
                  </c:pt>
                  <c:pt idx="5">
                    <c:v>Wrap-RFE</c:v>
                  </c:pt>
                  <c:pt idx="6">
                    <c:v>Wrap-RFECV</c:v>
                  </c:pt>
                  <c:pt idx="7">
                    <c:v>Wrap-Fwd</c:v>
                  </c:pt>
                  <c:pt idx="8">
                    <c:v>Wrap-Bwd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82.88</c:v>
                </c:pt>
                <c:pt idx="1">
                  <c:v>85.16</c:v>
                </c:pt>
                <c:pt idx="2">
                  <c:v>84.58</c:v>
                </c:pt>
                <c:pt idx="3">
                  <c:v>78.3</c:v>
                </c:pt>
                <c:pt idx="4">
                  <c:v>84.59</c:v>
                </c:pt>
                <c:pt idx="5">
                  <c:v>82.31</c:v>
                </c:pt>
                <c:pt idx="6">
                  <c:v>83.71</c:v>
                </c:pt>
                <c:pt idx="7">
                  <c:v>73.51</c:v>
                </c:pt>
                <c:pt idx="8">
                  <c:v>81.87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91535"/>
          </a:solidFill>
          <a:ln w="12700">
            <a:solidFill>
              <a:srgbClr val="091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7315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1887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6459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1031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Model Evaluation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Dataset  |  Machine Learning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502920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502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344168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344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185416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218541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3026664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30266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FS Categories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3867912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3867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508760" cy="3291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0, 01, 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1143000"/>
            <a:ext cx="1508760" cy="32918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42616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58568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58568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 · IQR · OHE · SMOTE ·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94176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1143000"/>
            <a:ext cx="1508760" cy="3291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5112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941064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41064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· All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76672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1143000"/>
            <a:ext cx="1508760" cy="3291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Embedded · Wrapper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59168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2904" y="1143000"/>
            <a:ext cx="1508760" cy="32918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0104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0104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06056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06056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Cross-Method Comparison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notebook saves outputs to  saved_data/  for the next stage to consume.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— 303 Patients, 13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691640" cy="1143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691640" cy="11430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691640" cy="11430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2468880"/>
            <a:ext cx="1691640" cy="1143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23160" y="3154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4813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Imputer (k=5)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missing values in ca &amp; thal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07568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outliers in 5 continuous features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67004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 → 13 dummy columns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6440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227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85876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train set synthetically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4531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10912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10912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Mean=0, Std=1 (fit on train only)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3840480"/>
            <a:ext cx="3794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9136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preprocessing: X_train (362 × 19)  ·  X_test (61 × 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— train classes perfectly balanced 50/50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classifiers trained on the full feature set (19 features)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SVM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90.2%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82.3%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90.3%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93.0%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90.2%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96.4%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95.1%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86.9%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81.2%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92.9%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91.6%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77.1%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96.4%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93.3%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94.0%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Naive Bayes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81.7%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Neural Network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87.7%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68.8%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64.3%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65.5%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77.3%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Best Recall: SVM 100.0% — catches ALL sick patients  |  Best F1: SVM 90.3%  |  Best AUC: Random Forest 95.1%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categories, seven algorithms — finding the best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2651760" cy="5486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Filter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4206240"/>
            <a:ext cx="2468880" cy="502920"/>
          </a:xfrm>
          <a:prstGeom prst="rect">
            <a:avLst/>
          </a:prstGeom>
          <a:solidFill>
            <a:srgbClr val="1976D2">
              <a:alpha val="12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≥4/7 votes → Final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features selected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097280"/>
            <a:ext cx="265176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Embedded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 Regularization)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both methods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4206240"/>
            <a:ext cx="2468880" cy="5029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&gt; 0 / Above mean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~8–13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1097280"/>
            <a:ext cx="265176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Wrapper Methods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(8 features)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(auto optimal)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4206240"/>
            <a:ext cx="2468880" cy="502920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optimised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features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Feature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and Random Forest Importance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828800" cy="12344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Selected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19 features kept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828800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Selected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mean importance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828800" cy="12344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(Final)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combined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097280"/>
            <a:ext cx="1828800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6656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Avg F1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Emb-Union subset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487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by BOTH Methods (Most Confident)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cp_2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32888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cp_3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75704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exang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oldpeak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32888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ca_1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54296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ca_2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thal_2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41648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thal_3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combo: SVM + Emb-Union  →  F1=90.3%  Recall=100.0%  |  Emb-Union Avg F1=84.59% (+1.71% vs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Feature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RFE, RFECV, Forward Selection, Backward Elimination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828800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82.3%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8288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83.7%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828800" cy="13716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73.5%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097280"/>
            <a:ext cx="1828800" cy="13716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81.9%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633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by ALL 4 Wrapper Methods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cp_2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32888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cp_3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75704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oldpeak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ca_2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32888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thal_2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54296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thal_3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exang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36008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selected 18 features automatically via cross-validation — most data-driven approach (+0.83% vs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All Methods Compared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F1-Score across all 8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5156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perform comparably — feature selection reduces dimensionality without significant accuracy loss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Priority: Recall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catches the most sick patients?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In medical diagnosis, RECALL is the most critical metric.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(missed sick patient) can be life-threatening — it must be minimised.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Recall Across All 8 Models (% of sick patients correctly identified)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624328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624328"/>
            <a:ext cx="4174236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626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Emb-LASSO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3008376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008376"/>
            <a:ext cx="394792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346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Emb-Union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392424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392424"/>
            <a:ext cx="394792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346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346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30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Wrap-RFE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3776472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3776472"/>
            <a:ext cx="3621024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730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730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Wrap-RFECV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4160520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4160520"/>
            <a:ext cx="3495294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4544568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4544568"/>
            <a:ext cx="3294126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4988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44988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8828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Wrap-Bwd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4928616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4928616"/>
            <a:ext cx="271576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48828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55280" y="48828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5266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Emb-RF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94560" y="5312664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5312664"/>
            <a:ext cx="1483614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5266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266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5650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Wrap-Fwd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94560" y="5696712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4560" y="5696712"/>
            <a:ext cx="1483614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9480" y="5650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955280" y="5650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4617720"/>
            <a:ext cx="83210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36008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Filter achieves highest avg Recall 90.6% — fewest missed sick patients across all models (+3.5% vs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Agreement Across All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universally important is each feature?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methods total (Filter + 2 Embedded + 4 Wrapper)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1051560"/>
            <a:ext cx="22860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0424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≥5/7 votes (Gold Standard)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344168"/>
            <a:ext cx="228600" cy="20116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3350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3–4/7 votes (Reliable)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36776"/>
            <a:ext cx="228600" cy="201168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≤2/7 votes (Weak)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15727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157276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481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5727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57276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984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thal_2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20756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07568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984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84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thal_3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0756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207568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1984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2487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0" y="257860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2578608"/>
            <a:ext cx="2116183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4871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2487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257860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578608"/>
            <a:ext cx="2116183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4871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2990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45920" y="308152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0" y="3081528"/>
            <a:ext cx="1763486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2990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2990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08152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3081528"/>
            <a:ext cx="1763486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990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34930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645920" y="358444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45920" y="3584448"/>
            <a:ext cx="1410789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4930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34930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358444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97880" y="3584448"/>
            <a:ext cx="1058091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34930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" y="39959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645920" y="40873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45920" y="4087368"/>
            <a:ext cx="1058091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0520" y="39959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63440" y="39959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slope_1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40873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7880" y="4087368"/>
            <a:ext cx="70539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9959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" y="44988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645920" y="45902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5920" y="4590288"/>
            <a:ext cx="70539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60520" y="4498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63440" y="44988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97880" y="45902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4590288"/>
            <a:ext cx="352697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4498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 Ranking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 selection method per 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8321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280160"/>
                <a:gridCol w="1417320"/>
                <a:gridCol w="1097280"/>
                <a:gridCol w="1828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F1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Recall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 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🥇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Filter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85.16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90.63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+2.28%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✅ Best Overall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🥈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Emb-Union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84.59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89.73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+1.71%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✅ Improved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🥉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Emb-LASSO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84.58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89.74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+1.70%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✅ Improved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Wrap-RFECV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87.95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+0.83%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✅ Improved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87.05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Reference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Wrap-RFE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88.39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-0.57%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➡ Marginal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Wrap-Bwd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81.87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-1.01%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Slight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Emb-RF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79.91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-4.58%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Wrap-Fwd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73.51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79.91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-9.37%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Significant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617720"/>
            <a:ext cx="83210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636008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model-method pair: SVM + Baseline/Emb-Union/Wrap-RFECV  →  F1 = 90.3%  |  Recall = 100.0%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28016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FS is the clear winner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 achieved highest avg F1 (85.16%) and avg Recall (90.6%) — outperforming Baseline by +2.28% F1 and +3.5% Recall.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80160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1280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is the best model overall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achieves F1=90.3% and Recall=100% on Baseline, Emb-Union, and Wrap-RFECV — it catches EVERY sick patient in those configurations.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26080"/>
            <a:ext cx="64008" cy="1600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06324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 that matter most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cp_2, cp_3, thal_2, thal_3, oldpeak, ca_2 — selected by 6–7 out of 7 methods. Chest pain type and thalassemia are the strongest predictors.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06324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 hurt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Wrap-Fwd was the worst method at -9.37% vs Baseline. Greedy forward search can get stuck in poor local optima on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 across the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Loading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0, 01,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loading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9748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encoding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Scaling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Filter FS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04, 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baseline models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/ Chi2 / ANOVA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+ SelectKBest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017520"/>
            <a:ext cx="2697480" cy="45720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FS  (Ruhe)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L1 selection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importance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subset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17520"/>
            <a:ext cx="269748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FS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+ RFECV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3017520"/>
            <a:ext cx="2697480" cy="457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comparison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&amp; ROC plots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voting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6364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declaration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91535"/>
          </a:solidFill>
          <a:ln w="12700">
            <a:solidFill>
              <a:srgbClr val="09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UCI Cleveland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Patients  ·  19 Features (after OHE)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Models  ·  7 FS Algorithms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SVM + Filter → Recall = 100%  |  Filter avg F1 = 85.16%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Any remarks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— Project Results</dc:title>
  <dc:subject>PptxGenJS Presentation</dc:subject>
  <dc:creator>Team</dc:creator>
  <cp:lastModifiedBy>Team</cp:lastModifiedBy>
  <cp:revision>1</cp:revision>
  <dcterms:created xsi:type="dcterms:W3CDTF">2026-04-26T08:59:42Z</dcterms:created>
  <dcterms:modified xsi:type="dcterms:W3CDTF">2026-04-26T08:59:42Z</dcterms:modified>
</cp:coreProperties>
</file>