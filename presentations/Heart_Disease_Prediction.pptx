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F1-Score</c:v>
                </c:pt>
              </c:strCache>
            </c:strRef>
          </c:tx>
          <c:spPr>
            <a:solidFill>
              <a:srgbClr val="607D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07D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9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6A69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AD145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Baseline</c:v>
                  </c:pt>
                  <c:pt idx="1">
                    <c:v>Filter</c:v>
                  </c:pt>
                  <c:pt idx="2">
                    <c:v>Emb-LASSO</c:v>
                  </c:pt>
                  <c:pt idx="3">
                    <c:v>Emb-RF</c:v>
                  </c:pt>
                  <c:pt idx="4">
                    <c:v>Emb-Union</c:v>
                  </c:pt>
                  <c:pt idx="5">
                    <c:v>Wrap-RFE</c:v>
                  </c:pt>
                  <c:pt idx="6">
                    <c:v>Wrap-RFECV</c:v>
                  </c:pt>
                  <c:pt idx="7">
                    <c:v>Wrap-Fwd</c:v>
                  </c:pt>
                  <c:pt idx="8">
                    <c:v>Wrap-Bwd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84.3</c:v>
                </c:pt>
                <c:pt idx="1">
                  <c:v>83.9</c:v>
                </c:pt>
                <c:pt idx="2">
                  <c:v>82.6</c:v>
                </c:pt>
                <c:pt idx="3">
                  <c:v>83.1</c:v>
                </c:pt>
                <c:pt idx="4">
                  <c:v>83.9</c:v>
                </c:pt>
                <c:pt idx="5">
                  <c:v>82.8</c:v>
                </c:pt>
                <c:pt idx="6">
                  <c:v>83.5</c:v>
                </c:pt>
                <c:pt idx="7">
                  <c:v>83</c:v>
                </c:pt>
                <c:pt idx="8">
                  <c:v>82.4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rgbClr val="112060"/>
          </a:solidFill>
          <a:ln w="12700">
            <a:solidFill>
              <a:srgbClr val="1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091535"/>
          </a:solidFill>
          <a:ln w="12700">
            <a:solidFill>
              <a:srgbClr val="0915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743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7315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1887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16459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38160" y="2103120"/>
            <a:ext cx="164592" cy="164592"/>
          </a:xfrm>
          <a:prstGeom prst="ellipse">
            <a:avLst/>
          </a:prstGeom>
          <a:solidFill>
            <a:srgbClr val="00897B">
              <a:alpha val="6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" y="274320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&amp; Model Evaluation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Cleveland Heart Disease Dataset  |  Machine Learning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502920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80760" y="50292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Patient Records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344168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344168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Clinical Features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2185416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2185416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ML Models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3026664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302666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FS Categories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89320" y="3867912"/>
            <a:ext cx="2743200" cy="621792"/>
          </a:xfrm>
          <a:prstGeom prst="rect">
            <a:avLst/>
          </a:prstGeom>
          <a:solidFill>
            <a:srgbClr val="1A3065"/>
          </a:solidFill>
          <a:ln w="12700">
            <a:solidFill>
              <a:srgbClr val="1A306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80760" y="386791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Project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1508760" cy="3291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EDA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0, 01, 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2788920"/>
            <a:ext cx="173736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85416" y="1143000"/>
            <a:ext cx="1508760" cy="32918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42616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42616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258568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58568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Impute · IQR · OHE · SMOTE · Scale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94176" y="2788920"/>
            <a:ext cx="173736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67912" y="1143000"/>
            <a:ext cx="1508760" cy="32918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25112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25112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941064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Training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41064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 · All Features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76672" y="2788920"/>
            <a:ext cx="173736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408" y="1143000"/>
            <a:ext cx="1508760" cy="3291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07608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623560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· Embedded · Wrapper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059168" y="2788920"/>
            <a:ext cx="173736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32904" y="1143000"/>
            <a:ext cx="1508760" cy="329184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90104" y="1234440"/>
            <a:ext cx="594360" cy="59436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90104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306056" y="1965960"/>
            <a:ext cx="1362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06056" y="2926080"/>
            <a:ext cx="1362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Cross-Method Comparison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notebook saves outputs to  saved_data/  for the next stage to consume.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Cleveland Heart Disease — 303 Patients, 13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1691640" cy="1143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143000"/>
            <a:ext cx="1691640" cy="11430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3160" y="11887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23160" y="18288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68880"/>
            <a:ext cx="1691640" cy="114300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02920" y="3154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23160" y="2468880"/>
            <a:ext cx="1691640" cy="11430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23160" y="2514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423160" y="315468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48132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481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10912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Imputer (k=5)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10912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missing values in ca &amp; thal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07568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10912" y="2039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Capping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10912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outliers in 5 continuous features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67004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10912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10912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categorical → 13 dummy columns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26440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264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10912" y="3227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10912" y="3474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(random_state=42)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385876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0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10912" y="3822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10912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train set synthetically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4453128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4453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10912" y="44165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010912" y="4663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Mean=0, Std=1 (fit on train only)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3840480"/>
            <a:ext cx="3794760" cy="82296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91363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preprocessing: X_train (362 × 19)  ·  X_test (61 × 19)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applied — train classes perfectly balanced 50/50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classifiers trained on the full feature set (19 features)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97280"/>
          <a:ext cx="83210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14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F1-Score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90.16%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88.89%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94.12%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91.43%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97.18%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XGBoost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86.89%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86.11%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91.18%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88.57%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94.30%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SVM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85.25%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84.85%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82.35%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83.58%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93.52%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Neural Network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83.61%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83.33%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73.53%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78.13%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91.47%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83.61%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80.00%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82.35%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81.16%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90.05%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KNN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81.97%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80.56%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85.29%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82.86%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88.65%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78.69%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77.78%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82.35%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80.00%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80.37%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Naive Bayes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83.61%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80.56%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85.29%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82.86%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91.81%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599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Best Recall: Random Forest 94.12% — catches most sick patients  |  Best AUC: Random Forest 97.18%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Methods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categories, seven algorithms — finding the best features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97280"/>
            <a:ext cx="26517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976D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097280"/>
            <a:ext cx="2651760" cy="54864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Filter Methods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1208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F-Test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" y="28895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" y="32735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" y="36576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SelectKBest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" y="4206240"/>
            <a:ext cx="2468880" cy="502920"/>
          </a:xfrm>
          <a:prstGeom prst="rect">
            <a:avLst/>
          </a:prstGeom>
          <a:solidFill>
            <a:srgbClr val="1976D2">
              <a:alpha val="12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≥4/7 votes → Final features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features selected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18688" y="1097280"/>
            <a:ext cx="26517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1097280"/>
            <a:ext cx="2651760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Embedded Methods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55848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 Regularization)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55848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Importance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of both methods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128" y="4206240"/>
            <a:ext cx="2468880" cy="50292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&gt; 0 / Above mean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~8–13 features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53328" y="1097280"/>
            <a:ext cx="265176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53328" y="1097280"/>
            <a:ext cx="2651760" cy="5486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10972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Wrapper Methods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90488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(8 features)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0488" y="21214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 (auto optimal)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90488" y="250545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Selection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90488" y="28895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Elimination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44768" y="4206240"/>
            <a:ext cx="2468880" cy="502920"/>
          </a:xfrm>
          <a:prstGeom prst="rect">
            <a:avLst/>
          </a:prstGeom>
          <a:solidFill>
            <a:srgbClr val="F9A825">
              <a:alpha val="12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 optimised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 features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Feature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and Random Forest Importance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1828800" cy="12344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207008"/>
            <a:ext cx="16459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739189"/>
            <a:ext cx="17373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Selected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72488"/>
            <a:ext cx="173736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19 features kept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828800" cy="1234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207008"/>
            <a:ext cx="16459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0320" y="1739189"/>
            <a:ext cx="17373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Selected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072488"/>
            <a:ext cx="173736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mean importance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828800" cy="123444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1207008"/>
            <a:ext cx="16459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63440" y="1739189"/>
            <a:ext cx="17373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(Final)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072488"/>
            <a:ext cx="173736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combined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1097280"/>
            <a:ext cx="1828800" cy="12344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1207008"/>
            <a:ext cx="164592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766560" y="1739189"/>
            <a:ext cx="173736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Avg F1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072488"/>
            <a:ext cx="1737360" cy="222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subset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24871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 by BOTH Methods (Most Confident)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2907792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cp_2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32888" y="2907792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cp_3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54296" y="2907792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thalach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75704" y="2907792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29077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exang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474720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oldpeak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32888" y="3474720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ca_1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54296" y="3474720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ca_2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75704" y="3474720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3474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thal_2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041648"/>
            <a:ext cx="1920240" cy="457200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thal_3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E0F2F1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4599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combo: Random Forest + Embedded-Union  →  F1=91.43%  Recall=94.12%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Feature Selection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RFE, RFECV, Forward Selection, Backward Elimination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1828800" cy="1371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Acc: ~83%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828800" cy="13716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1460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features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14600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Acc: ~84%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097280"/>
            <a:ext cx="1828800" cy="137160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17720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Acc: ~83%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20840" y="1097280"/>
            <a:ext cx="1828800" cy="1371600"/>
          </a:xfrm>
          <a:prstGeom prst="rect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20840" y="11155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2084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features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20840" y="19476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Acc: ~82%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26334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 by ALL 4 Wrapper Methods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11480" y="3035808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cp_2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32888" y="3035808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78608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cp_3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54296" y="3035808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thalach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75704" y="3035808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1424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oldpeak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602736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602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ca_2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32888" y="3602736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78608" y="3602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thal_2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54296" y="3602736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0016" y="3602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thal_3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775704" y="3602736"/>
            <a:ext cx="1920240" cy="457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360273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exang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599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F3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RFECV automatically selects optimal feature count via cross-validation — most data-driven approach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F1-Score: All Methods Compared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F1-Score across all 8 models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57200" y="105156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perform comparably — feature selection reduces dimensionality without significant accuracy loss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Priority: Recall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catches the most sick patients?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832104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8138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In medical diagnosis, RECALL is the most critical metric.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Negative (missed sick patient) can be life-threatening — it must be minimised.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Recall Across All 8 Models (% of sick patients correctly identified)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786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624328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2624328"/>
            <a:ext cx="289179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25786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84.9%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25786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9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9626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Emb-Union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94560" y="3008376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3008376"/>
            <a:ext cx="36880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29626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0" y="2962656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3346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Wrap-RFECV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3392424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3392424"/>
            <a:ext cx="314325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33467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34670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37307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3776472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4560" y="3776472"/>
            <a:ext cx="259842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9480" y="3730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3730752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114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Emb-RF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94560" y="4160520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4160520"/>
            <a:ext cx="293370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9480" y="4114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55280" y="4114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1480" y="4498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Wrap-Fwd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94560" y="4544568"/>
            <a:ext cx="502920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0" y="4544568"/>
            <a:ext cx="2388870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9480" y="44988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83.7%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55280" y="449884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FN: 10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617720"/>
            <a:ext cx="8321040" cy="3017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636008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Embedded-Union achieves highest avg Recall — fewest missed sick patients across all models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Agreement Across All Methods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universally important is each feature?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methods total (Filter + 2 Embedded + 4 Wrapper)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92240" y="1051560"/>
            <a:ext cx="228600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04241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≥5/7 votes (Gold Standard)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92240" y="1344168"/>
            <a:ext cx="228600" cy="201168"/>
          </a:xfrm>
          <a:prstGeom prst="rect">
            <a:avLst/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33502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3–4/7 votes (Reliable)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1636776"/>
            <a:ext cx="228600" cy="201168"/>
          </a:xfrm>
          <a:prstGeom prst="rect">
            <a:avLst/>
          </a:prstGeom>
          <a:solidFill>
            <a:srgbClr val="EF9A9A"/>
          </a:solidFill>
          <a:ln w="12700">
            <a:solidFill>
              <a:srgbClr val="EF9A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62763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≤2/7 votes (Weak)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4813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cp_2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0" y="157276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1572768"/>
            <a:ext cx="24688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4813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4813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cp_3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157276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572768"/>
            <a:ext cx="24688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4813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19842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thal_2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0" y="207568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2075688"/>
            <a:ext cx="24688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0520" y="19842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19842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thal_3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207568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2075688"/>
            <a:ext cx="2468880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19842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24871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45920" y="257860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45920" y="2578608"/>
            <a:ext cx="2116183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24871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24871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ca_2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97880" y="257860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97880" y="2578608"/>
            <a:ext cx="2116183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248716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29900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645920" y="308152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45920" y="3081528"/>
            <a:ext cx="1763486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0520" y="29900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299008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97880" y="308152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97880" y="3081528"/>
            <a:ext cx="1763486" cy="2560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0" y="29900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11480" y="34930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ca_1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645920" y="358444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645920" y="3584448"/>
            <a:ext cx="1410789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60520" y="34930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663440" y="349300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ca_3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97880" y="358444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897880" y="3584448"/>
            <a:ext cx="1058091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349300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11480" y="39959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cp_1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1645920" y="408736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645920" y="4087368"/>
            <a:ext cx="1058091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60520" y="39959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663440" y="399592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slope_1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897880" y="408736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97880" y="4087368"/>
            <a:ext cx="70539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12480" y="399592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11480" y="44988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645920" y="459028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645920" y="4590288"/>
            <a:ext cx="705394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60520" y="4498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2/7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4663440" y="449884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5897880" y="4590288"/>
            <a:ext cx="2468880" cy="2560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897880" y="4590288"/>
            <a:ext cx="352697" cy="256032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412480" y="449884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Method Ranking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feature selection method per metric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78992"/>
          <a:ext cx="8321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463040"/>
                <a:gridCol w="1280160"/>
                <a:gridCol w="1417320"/>
                <a:gridCol w="1097280"/>
                <a:gridCol w="18288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F1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Avg Recall (%)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Δ Baseline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🥇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Emb-Union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83.9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86.8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+0.6%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5E20"/>
                          </a:solidFill>
                        </a:rPr>
                        <a:t>✅ Best Overall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🥈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Filter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83.9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84.2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+0.6%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✅ Improved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🥉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Wrap-RFECV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83.5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85.5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+0.2%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2340"/>
                          </a:solidFill>
                        </a:rPr>
                        <a:t>✅ Improved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Emb-RF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85.0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-0.2%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≈ Similar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Baseline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84.3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84.9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Reference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Wrap-Fwd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-0.3%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➡ Marginal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Wrap-RFE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84.0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-0.5%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❌ Slight drop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Emb-LASSO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-0.7%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❌ Slight drop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Wrap-Bwd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82.4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83.0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-0.9%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</a:rPr>
                        <a:t>❌ Slight drop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4617720"/>
            <a:ext cx="8321040" cy="301752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636008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model-method pair: Random Forest + Embedded-Union  →  F1 = 91.43%  |  Recall = 94.12%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this project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4300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143000"/>
            <a:ext cx="64008" cy="1600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6072" y="1280160"/>
            <a:ext cx="457200" cy="45720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reduction works without accuracy loss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from 19 to 8–13 features preserves F1-Score while cutting model complexity and training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14300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143000"/>
            <a:ext cx="64008" cy="1600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280160"/>
            <a:ext cx="457200" cy="45720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2392" y="1280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methods are most robust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180136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+ RF Union achieved the highest average Recall (86.8%) — best for medical diagnosis where missing a sick patient is dangerous.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92608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26080"/>
            <a:ext cx="64008" cy="1600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3063240"/>
            <a:ext cx="457200" cy="4572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24712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features that matter most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cp_2, cp_3, thal_2, thal_3, oldpeak, ca_2 — selected by 6–7 out of 7 methods. Chest pain type and thalassemia dominate.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92608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926080"/>
            <a:ext cx="64008" cy="160020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063240"/>
            <a:ext cx="457200" cy="457200"/>
          </a:xfrm>
          <a:prstGeom prst="ellipse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22392" y="3063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best 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3584448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F1=91.43% and Recall=94.12% on baseline — and maintained performance across all feature selection methods.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Contributions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distribution across the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0"/>
          </a:xfrm>
          <a:prstGeom prst="line">
            <a:avLst/>
          </a:prstGeom>
          <a:noFill/>
          <a:ln w="12700">
            <a:solidFill>
              <a:srgbClr val="E8ED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972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97280"/>
            <a:ext cx="269748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Data Loading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0, 01,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562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loading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descriptions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0972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097280"/>
            <a:ext cx="2697480" cy="4572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097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8562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capping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OHE encoding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25968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Scaling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109728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1097280"/>
            <a:ext cx="269748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097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&amp; Filter FS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15819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Notebooks 04, 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85623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baseline models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210312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/ Chi2 / ANOVA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350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+ SelectKBest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59689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system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0175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11480" y="3017520"/>
            <a:ext cx="2697480" cy="457200"/>
          </a:xfrm>
          <a:prstGeom prst="rect">
            <a:avLst/>
          </a:prstGeom>
          <a:solidFill>
            <a:srgbClr val="AD1457"/>
          </a:solidFill>
          <a:ln w="12700">
            <a:solidFill>
              <a:srgbClr val="AD14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FS  (Ruhe)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35021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37764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L1 selection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0233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importance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270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subset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45171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comparison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91840" y="30175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91840" y="3017520"/>
            <a:ext cx="269748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8328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FS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383280" y="35021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83280" y="37764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RFE + RFECV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83280" y="40233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selection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4270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elimination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383280" y="45171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analysis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301752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3017520"/>
            <a:ext cx="2697480" cy="45720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63640" y="3017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35021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08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377647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comparison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63640" y="402336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&amp; ROC plots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4270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voting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63640" y="45171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declaration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91535"/>
          </a:solidFill>
          <a:ln w="12700">
            <a:solidFill>
              <a:srgbClr val="09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 — UCI Cleveland Dataset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Patients  ·  13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ML Models  ·  7 FS Algorithms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RF + Embedded-Union → F1 = 91.4%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Any remarks are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— Project Results</dc:title>
  <dc:subject>PptxGenJS Presentation</dc:subject>
  <dc:creator>Team</dc:creator>
  <cp:lastModifiedBy>Team</cp:lastModifiedBy>
  <cp:revision>1</cp:revision>
  <dcterms:created xsi:type="dcterms:W3CDTF">2026-04-26T08:44:53Z</dcterms:created>
  <dcterms:modified xsi:type="dcterms:W3CDTF">2026-04-26T08:44:53Z</dcterms:modified>
</cp:coreProperties>
</file>